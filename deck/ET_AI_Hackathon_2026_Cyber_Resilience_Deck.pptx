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460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200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1B2E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141B2E"/>
                </a:solidFill>
                <a:latin typeface="Arial"/>
              </a:rPr>
              <a:t>Recall by attack type — loud vs. stealthy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Loud</c:v>
                </c:pt>
              </c:strCache>
            </c:strRef>
          </c:tx>
          <c:spPr>
            <a:solidFill>
              <a:srgbClr val="00D1B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41B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Port scan</c:v>
                </c:pt>
                <c:pt idx="1">
                  <c:v>Brute force</c:v>
                </c:pt>
                <c:pt idx="2">
                  <c:v>DoS</c:v>
                </c:pt>
                <c:pt idx="3">
                  <c:v>Exfiltration</c:v>
                </c:pt>
                <c:pt idx="4">
                  <c:v>Lateral movement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97.7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EEE-3E46-9274-97A9B688C4C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Stealthy</c:v>
                </c:pt>
              </c:strCache>
            </c:strRef>
          </c:tx>
          <c:spPr>
            <a:solidFill>
              <a:srgbClr val="FF4C4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41B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Port scan</c:v>
                </c:pt>
                <c:pt idx="1">
                  <c:v>Brute force</c:v>
                </c:pt>
                <c:pt idx="2">
                  <c:v>DoS</c:v>
                </c:pt>
                <c:pt idx="3">
                  <c:v>Exfiltration</c:v>
                </c:pt>
                <c:pt idx="4">
                  <c:v>Lateral movement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97.6</c:v>
                </c:pt>
                <c:pt idx="1">
                  <c:v>37.799999999999997</c:v>
                </c:pt>
                <c:pt idx="2">
                  <c:v>68.400000000000006</c:v>
                </c:pt>
                <c:pt idx="3">
                  <c:v>64.900000000000006</c:v>
                </c:pt>
                <c:pt idx="4">
                  <c:v>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EEE-3E46-9274-97A9B688C4C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C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</c:scaling>
        <c:delete val="0"/>
        <c:axPos val="l"/>
        <c:majorGridlines>
          <c:spPr>
            <a:ln w="12700" cap="flat">
              <a:solidFill>
                <a:srgbClr val="E4E7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5F7F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F5F7FA"/>
                </a:solidFill>
                <a:latin typeface="Arial"/>
              </a:rPr>
              <a:t>Synthetic vs. real-world performance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</c:v>
                </c:pt>
              </c:strCache>
            </c:strRef>
          </c:tx>
          <c:spPr>
            <a:solidFill>
              <a:srgbClr val="00D1B2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5F7F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ROC-AUC</c:v>
                </c:pt>
                <c:pt idx="1">
                  <c:v>PR-AUC</c:v>
                </c:pt>
                <c:pt idx="2">
                  <c:v>Precision</c:v>
                </c:pt>
                <c:pt idx="3">
                  <c:v>Recall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0.99</c:v>
                </c:pt>
                <c:pt idx="1">
                  <c:v>0.89600000000000002</c:v>
                </c:pt>
                <c:pt idx="2">
                  <c:v>0.78700000000000003</c:v>
                </c:pt>
                <c:pt idx="3">
                  <c:v>0.82899999999999996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7B5-B04A-A0D0-5A6831CA11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Real UNSW-NB15</c:v>
                </c:pt>
              </c:strCache>
            </c:strRef>
          </c:tx>
          <c:spPr>
            <a:solidFill>
              <a:srgbClr val="FFB454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5F7F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ROC-AUC</c:v>
                </c:pt>
                <c:pt idx="1">
                  <c:v>PR-AUC</c:v>
                </c:pt>
                <c:pt idx="2">
                  <c:v>Precision</c:v>
                </c:pt>
                <c:pt idx="3">
                  <c:v>Recall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0.80900000000000005</c:v>
                </c:pt>
                <c:pt idx="1">
                  <c:v>0.251</c:v>
                </c:pt>
                <c:pt idx="2">
                  <c:v>0.312</c:v>
                </c:pt>
                <c:pt idx="3">
                  <c:v>0.312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7B5-B04A-A0D0-5A6831CA11F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AAB4C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1000000000000001"/>
        </c:scaling>
        <c:delete val="0"/>
        <c:axPos val="l"/>
        <c:majorGridlines>
          <c:spPr>
            <a:ln w="12700" cap="flat">
              <a:solidFill>
                <a:srgbClr val="2A335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AB4C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0F1E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AAB4C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B0F1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7685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548640"/>
            <a:ext cx="41148" cy="41148"/>
          </a:xfrm>
          <a:prstGeom prst="ellipse">
            <a:avLst/>
          </a:prstGeom>
          <a:solidFill>
            <a:srgbClr val="00D1B2"/>
          </a:solidFill>
          <a:ln/>
        </p:spPr>
      </p:sp>
      <p:sp>
        <p:nvSpPr>
          <p:cNvPr id="3" name="Shape 1"/>
          <p:cNvSpPr/>
          <p:nvPr/>
        </p:nvSpPr>
        <p:spPr>
          <a:xfrm>
            <a:off x="8247888" y="548640"/>
            <a:ext cx="41148" cy="41148"/>
          </a:xfrm>
          <a:prstGeom prst="ellipse">
            <a:avLst/>
          </a:prstGeom>
          <a:solidFill>
            <a:srgbClr val="00D1B2">
              <a:alpha val="9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31936" y="548640"/>
            <a:ext cx="41148" cy="41148"/>
          </a:xfrm>
          <a:prstGeom prst="ellipse">
            <a:avLst/>
          </a:prstGeom>
          <a:solidFill>
            <a:srgbClr val="00D1B2">
              <a:alpha val="9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015984" y="548640"/>
            <a:ext cx="41148" cy="41148"/>
          </a:xfrm>
          <a:prstGeom prst="ellipse">
            <a:avLst/>
          </a:prstGeom>
          <a:solidFill>
            <a:srgbClr val="00D1B2">
              <a:alpha val="9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400032" y="548640"/>
            <a:ext cx="41148" cy="41148"/>
          </a:xfrm>
          <a:prstGeom prst="ellipse">
            <a:avLst/>
          </a:prstGeom>
          <a:solidFill>
            <a:srgbClr val="00D1B2">
              <a:alpha val="9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548640"/>
            <a:ext cx="41148" cy="41148"/>
          </a:xfrm>
          <a:prstGeom prst="ellipse">
            <a:avLst/>
          </a:prstGeom>
          <a:solidFill>
            <a:srgbClr val="00D1B2">
              <a:alpha val="9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168128" y="548640"/>
            <a:ext cx="41148" cy="41148"/>
          </a:xfrm>
          <a:prstGeom prst="ellipse">
            <a:avLst/>
          </a:prstGeom>
          <a:solidFill>
            <a:srgbClr val="00D1B2">
              <a:alpha val="8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552176" y="548640"/>
            <a:ext cx="41148" cy="41148"/>
          </a:xfrm>
          <a:prstGeom prst="ellipse">
            <a:avLst/>
          </a:prstGeom>
          <a:solidFill>
            <a:srgbClr val="00D1B2">
              <a:alpha val="86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936224" y="548640"/>
            <a:ext cx="41148" cy="41148"/>
          </a:xfrm>
          <a:prstGeom prst="ellipse">
            <a:avLst/>
          </a:prstGeom>
          <a:solidFill>
            <a:srgbClr val="00D1B2">
              <a:alpha val="8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320272" y="548640"/>
            <a:ext cx="41148" cy="41148"/>
          </a:xfrm>
          <a:prstGeom prst="ellipse">
            <a:avLst/>
          </a:prstGeom>
          <a:solidFill>
            <a:srgbClr val="00D1B2">
              <a:alpha val="8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863840" y="932688"/>
            <a:ext cx="41148" cy="41148"/>
          </a:xfrm>
          <a:prstGeom prst="ellipse">
            <a:avLst/>
          </a:prstGeom>
          <a:solidFill>
            <a:srgbClr val="00D1B2">
              <a:alpha val="9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247888" y="932688"/>
            <a:ext cx="41148" cy="41148"/>
          </a:xfrm>
          <a:prstGeom prst="ellipse">
            <a:avLst/>
          </a:prstGeom>
          <a:solidFill>
            <a:srgbClr val="00D1B2">
              <a:alpha val="9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631936" y="932688"/>
            <a:ext cx="41148" cy="41148"/>
          </a:xfrm>
          <a:prstGeom prst="ellipse">
            <a:avLst/>
          </a:prstGeom>
          <a:solidFill>
            <a:srgbClr val="00D1B2">
              <a:alpha val="8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015984" y="932688"/>
            <a:ext cx="41148" cy="41148"/>
          </a:xfrm>
          <a:prstGeom prst="ellipse">
            <a:avLst/>
          </a:prstGeom>
          <a:solidFill>
            <a:srgbClr val="00D1B2">
              <a:alpha val="86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400032" y="932688"/>
            <a:ext cx="41148" cy="41148"/>
          </a:xfrm>
          <a:prstGeom prst="ellipse">
            <a:avLst/>
          </a:prstGeom>
          <a:solidFill>
            <a:srgbClr val="00D1B2">
              <a:alpha val="84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784080" y="932688"/>
            <a:ext cx="41148" cy="41148"/>
          </a:xfrm>
          <a:prstGeom prst="ellipse">
            <a:avLst/>
          </a:prstGeom>
          <a:solidFill>
            <a:srgbClr val="00D1B2">
              <a:alpha val="8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168128" y="932688"/>
            <a:ext cx="41148" cy="41148"/>
          </a:xfrm>
          <a:prstGeom prst="ellipse">
            <a:avLst/>
          </a:prstGeom>
          <a:solidFill>
            <a:srgbClr val="00D1B2">
              <a:alpha val="8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552176" y="932688"/>
            <a:ext cx="41148" cy="41148"/>
          </a:xfrm>
          <a:prstGeom prst="ellipse">
            <a:avLst/>
          </a:prstGeom>
          <a:solidFill>
            <a:srgbClr val="00D1B2">
              <a:alpha val="7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936224" y="932688"/>
            <a:ext cx="41148" cy="41148"/>
          </a:xfrm>
          <a:prstGeom prst="ellipse">
            <a:avLst/>
          </a:prstGeom>
          <a:solidFill>
            <a:srgbClr val="00D1B2">
              <a:alpha val="76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320272" y="932688"/>
            <a:ext cx="41148" cy="41148"/>
          </a:xfrm>
          <a:prstGeom prst="ellipse">
            <a:avLst/>
          </a:prstGeom>
          <a:solidFill>
            <a:srgbClr val="00D1B2">
              <a:alpha val="74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863840" y="1316736"/>
            <a:ext cx="41148" cy="41148"/>
          </a:xfrm>
          <a:prstGeom prst="ellipse">
            <a:avLst/>
          </a:prstGeom>
          <a:solidFill>
            <a:srgbClr val="00D1B2">
              <a:alpha val="84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247888" y="1316736"/>
            <a:ext cx="41148" cy="41148"/>
          </a:xfrm>
          <a:prstGeom prst="ellipse">
            <a:avLst/>
          </a:prstGeom>
          <a:solidFill>
            <a:srgbClr val="00D1B2">
              <a:alpha val="82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631936" y="1316736"/>
            <a:ext cx="41148" cy="41148"/>
          </a:xfrm>
          <a:prstGeom prst="ellipse">
            <a:avLst/>
          </a:prstGeom>
          <a:solidFill>
            <a:srgbClr val="00D1B2">
              <a:alpha val="8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9015984" y="1316736"/>
            <a:ext cx="41148" cy="41148"/>
          </a:xfrm>
          <a:prstGeom prst="ellipse">
            <a:avLst/>
          </a:prstGeom>
          <a:solidFill>
            <a:srgbClr val="00D1B2">
              <a:alpha val="7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9400032" y="1316736"/>
            <a:ext cx="41148" cy="41148"/>
          </a:xfrm>
          <a:prstGeom prst="ellipse">
            <a:avLst/>
          </a:prstGeom>
          <a:solidFill>
            <a:srgbClr val="00D1B2">
              <a:alpha val="76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9784080" y="1316736"/>
            <a:ext cx="41148" cy="41148"/>
          </a:xfrm>
          <a:prstGeom prst="ellipse">
            <a:avLst/>
          </a:prstGeom>
          <a:solidFill>
            <a:srgbClr val="00D1B2">
              <a:alpha val="74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168128" y="1316736"/>
            <a:ext cx="41148" cy="41148"/>
          </a:xfrm>
          <a:prstGeom prst="ellipse">
            <a:avLst/>
          </a:prstGeom>
          <a:solidFill>
            <a:srgbClr val="00D1B2">
              <a:alpha val="72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0552176" y="1316736"/>
            <a:ext cx="41148" cy="41148"/>
          </a:xfrm>
          <a:prstGeom prst="ellipse">
            <a:avLst/>
          </a:prstGeom>
          <a:solidFill>
            <a:srgbClr val="00D1B2">
              <a:alpha val="7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0936224" y="1316736"/>
            <a:ext cx="41148" cy="41148"/>
          </a:xfrm>
          <a:prstGeom prst="ellipse">
            <a:avLst/>
          </a:prstGeom>
          <a:solidFill>
            <a:srgbClr val="00D1B2">
              <a:alpha val="6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1320272" y="1316736"/>
            <a:ext cx="41148" cy="41148"/>
          </a:xfrm>
          <a:prstGeom prst="ellipse">
            <a:avLst/>
          </a:prstGeom>
          <a:solidFill>
            <a:srgbClr val="00D1B2">
              <a:alpha val="66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863840" y="1700784"/>
            <a:ext cx="41148" cy="41148"/>
          </a:xfrm>
          <a:prstGeom prst="ellipse">
            <a:avLst/>
          </a:prstGeom>
          <a:solidFill>
            <a:srgbClr val="00D1B2">
              <a:alpha val="76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8247888" y="1700784"/>
            <a:ext cx="41148" cy="41148"/>
          </a:xfrm>
          <a:prstGeom prst="ellipse">
            <a:avLst/>
          </a:prstGeom>
          <a:solidFill>
            <a:srgbClr val="00D1B2">
              <a:alpha val="74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8631936" y="1700784"/>
            <a:ext cx="41148" cy="41148"/>
          </a:xfrm>
          <a:prstGeom prst="ellipse">
            <a:avLst/>
          </a:prstGeom>
          <a:solidFill>
            <a:srgbClr val="00D1B2">
              <a:alpha val="72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9015984" y="1700784"/>
            <a:ext cx="41148" cy="41148"/>
          </a:xfrm>
          <a:prstGeom prst="ellipse">
            <a:avLst/>
          </a:prstGeom>
          <a:solidFill>
            <a:srgbClr val="00D1B2">
              <a:alpha val="7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9400032" y="1700784"/>
            <a:ext cx="41148" cy="41148"/>
          </a:xfrm>
          <a:prstGeom prst="ellipse">
            <a:avLst/>
          </a:prstGeom>
          <a:solidFill>
            <a:srgbClr val="00D1B2">
              <a:alpha val="6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9784080" y="1700784"/>
            <a:ext cx="41148" cy="41148"/>
          </a:xfrm>
          <a:prstGeom prst="ellipse">
            <a:avLst/>
          </a:prstGeom>
          <a:solidFill>
            <a:srgbClr val="00D1B2">
              <a:alpha val="66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0168128" y="1700784"/>
            <a:ext cx="41148" cy="41148"/>
          </a:xfrm>
          <a:prstGeom prst="ellipse">
            <a:avLst/>
          </a:prstGeom>
          <a:solidFill>
            <a:srgbClr val="00D1B2">
              <a:alpha val="64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0552176" y="1700784"/>
            <a:ext cx="41148" cy="41148"/>
          </a:xfrm>
          <a:prstGeom prst="ellipse">
            <a:avLst/>
          </a:prstGeom>
          <a:solidFill>
            <a:srgbClr val="00D1B2">
              <a:alpha val="62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0936224" y="1700784"/>
            <a:ext cx="41148" cy="41148"/>
          </a:xfrm>
          <a:prstGeom prst="ellipse">
            <a:avLst/>
          </a:prstGeom>
          <a:solidFill>
            <a:srgbClr val="00D1B2">
              <a:alpha val="6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1320272" y="1700784"/>
            <a:ext cx="41148" cy="41148"/>
          </a:xfrm>
          <a:prstGeom prst="ellipse">
            <a:avLst/>
          </a:prstGeom>
          <a:solidFill>
            <a:srgbClr val="00D1B2">
              <a:alpha val="5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863840" y="2084832"/>
            <a:ext cx="41148" cy="41148"/>
          </a:xfrm>
          <a:prstGeom prst="ellipse">
            <a:avLst/>
          </a:prstGeom>
          <a:solidFill>
            <a:srgbClr val="00D1B2">
              <a:alpha val="6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247888" y="2084832"/>
            <a:ext cx="41148" cy="41148"/>
          </a:xfrm>
          <a:prstGeom prst="ellipse">
            <a:avLst/>
          </a:prstGeom>
          <a:solidFill>
            <a:srgbClr val="00D1B2">
              <a:alpha val="66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631936" y="2084832"/>
            <a:ext cx="41148" cy="41148"/>
          </a:xfrm>
          <a:prstGeom prst="ellipse">
            <a:avLst/>
          </a:prstGeom>
          <a:solidFill>
            <a:srgbClr val="00D1B2">
              <a:alpha val="64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9015984" y="2084832"/>
            <a:ext cx="41148" cy="41148"/>
          </a:xfrm>
          <a:prstGeom prst="ellipse">
            <a:avLst/>
          </a:prstGeom>
          <a:solidFill>
            <a:srgbClr val="00D1B2">
              <a:alpha val="62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9400032" y="2084832"/>
            <a:ext cx="41148" cy="41148"/>
          </a:xfrm>
          <a:prstGeom prst="ellipse">
            <a:avLst/>
          </a:prstGeom>
          <a:solidFill>
            <a:srgbClr val="00D1B2">
              <a:alpha val="6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9784080" y="2084832"/>
            <a:ext cx="41148" cy="41148"/>
          </a:xfrm>
          <a:prstGeom prst="ellipse">
            <a:avLst/>
          </a:prstGeom>
          <a:solidFill>
            <a:srgbClr val="00D1B2">
              <a:alpha val="5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0168128" y="2084832"/>
            <a:ext cx="41148" cy="41148"/>
          </a:xfrm>
          <a:prstGeom prst="ellipse">
            <a:avLst/>
          </a:prstGeom>
          <a:solidFill>
            <a:srgbClr val="00D1B2">
              <a:alpha val="56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0552176" y="2084832"/>
            <a:ext cx="41148" cy="41148"/>
          </a:xfrm>
          <a:prstGeom prst="ellipse">
            <a:avLst/>
          </a:prstGeom>
          <a:solidFill>
            <a:srgbClr val="00D1B2">
              <a:alpha val="54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10936224" y="2084832"/>
            <a:ext cx="41148" cy="41148"/>
          </a:xfrm>
          <a:prstGeom prst="ellipse">
            <a:avLst/>
          </a:prstGeom>
          <a:solidFill>
            <a:srgbClr val="00D1B2">
              <a:alpha val="52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11320272" y="2084832"/>
            <a:ext cx="41148" cy="41148"/>
          </a:xfrm>
          <a:prstGeom prst="ellipse">
            <a:avLst/>
          </a:prstGeom>
          <a:solidFill>
            <a:srgbClr val="00D1B2">
              <a:alpha val="5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863840" y="2468880"/>
            <a:ext cx="41148" cy="41148"/>
          </a:xfrm>
          <a:prstGeom prst="ellipse">
            <a:avLst/>
          </a:prstGeom>
          <a:solidFill>
            <a:srgbClr val="00D1B2">
              <a:alpha val="6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247888" y="2468880"/>
            <a:ext cx="41148" cy="41148"/>
          </a:xfrm>
          <a:prstGeom prst="ellipse">
            <a:avLst/>
          </a:prstGeom>
          <a:solidFill>
            <a:srgbClr val="00D1B2">
              <a:alpha val="5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631936" y="2468880"/>
            <a:ext cx="41148" cy="41148"/>
          </a:xfrm>
          <a:prstGeom prst="ellipse">
            <a:avLst/>
          </a:prstGeom>
          <a:solidFill>
            <a:srgbClr val="00D1B2">
              <a:alpha val="56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015984" y="2468880"/>
            <a:ext cx="41148" cy="41148"/>
          </a:xfrm>
          <a:prstGeom prst="ellipse">
            <a:avLst/>
          </a:prstGeom>
          <a:solidFill>
            <a:srgbClr val="00D1B2">
              <a:alpha val="54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400032" y="2468880"/>
            <a:ext cx="41148" cy="41148"/>
          </a:xfrm>
          <a:prstGeom prst="ellipse">
            <a:avLst/>
          </a:prstGeom>
          <a:solidFill>
            <a:srgbClr val="00D1B2">
              <a:alpha val="52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784080" y="2468880"/>
            <a:ext cx="41148" cy="41148"/>
          </a:xfrm>
          <a:prstGeom prst="ellipse">
            <a:avLst/>
          </a:prstGeom>
          <a:solidFill>
            <a:srgbClr val="00D1B2">
              <a:alpha val="50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0168128" y="2468880"/>
            <a:ext cx="41148" cy="41148"/>
          </a:xfrm>
          <a:prstGeom prst="ellipse">
            <a:avLst/>
          </a:prstGeom>
          <a:solidFill>
            <a:srgbClr val="00D1B2">
              <a:alpha val="4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0552176" y="2468880"/>
            <a:ext cx="41148" cy="41148"/>
          </a:xfrm>
          <a:prstGeom prst="ellipse">
            <a:avLst/>
          </a:prstGeom>
          <a:solidFill>
            <a:srgbClr val="00D1B2">
              <a:alpha val="46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0936224" y="2468880"/>
            <a:ext cx="41148" cy="41148"/>
          </a:xfrm>
          <a:prstGeom prst="ellipse">
            <a:avLst/>
          </a:prstGeom>
          <a:solidFill>
            <a:srgbClr val="00D1B2">
              <a:alpha val="44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11320272" y="2468880"/>
            <a:ext cx="41148" cy="41148"/>
          </a:xfrm>
          <a:prstGeom prst="ellipse">
            <a:avLst/>
          </a:prstGeom>
          <a:solidFill>
            <a:srgbClr val="00D1B2">
              <a:alpha val="42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64008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AI HACKATHON 2026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640080" y="23774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AI-Driven Cyber Resilience</a:t>
            </a:r>
            <a:endParaRPr lang="en-US" sz="4400" dirty="0"/>
          </a:p>
        </p:txBody>
      </p:sp>
      <p:sp>
        <p:nvSpPr>
          <p:cNvPr id="64" name="Text 62"/>
          <p:cNvSpPr/>
          <p:nvPr/>
        </p:nvSpPr>
        <p:spPr>
          <a:xfrm>
            <a:off x="640080" y="3200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AAB4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Critical National Infrastructure</a:t>
            </a:r>
            <a:endParaRPr lang="en-US" sz="2600" dirty="0"/>
          </a:p>
        </p:txBody>
      </p:sp>
      <p:sp>
        <p:nvSpPr>
          <p:cNvPr id="65" name="Text 63"/>
          <p:cNvSpPr/>
          <p:nvPr/>
        </p:nvSpPr>
        <p:spPr>
          <a:xfrm>
            <a:off x="640080" y="39776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A8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Anomaly Detection  +  MITRE ATT&amp;CK Attribution Agent</a:t>
            </a:r>
            <a:endParaRPr lang="en-US" sz="1500" dirty="0"/>
          </a:p>
        </p:txBody>
      </p:sp>
      <p:sp>
        <p:nvSpPr>
          <p:cNvPr id="66" name="Shape 64"/>
          <p:cNvSpPr/>
          <p:nvPr/>
        </p:nvSpPr>
        <p:spPr>
          <a:xfrm>
            <a:off x="658368" y="4617720"/>
            <a:ext cx="1097280" cy="0"/>
          </a:xfrm>
          <a:prstGeom prst="line">
            <a:avLst/>
          </a:prstGeom>
          <a:noFill/>
          <a:ln w="25400">
            <a:solidFill>
              <a:srgbClr val="00D1B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4754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#7  •  Solo build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640080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Fida M 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A8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is too slow — and everyone knows 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APTs deliberately operate low-and-slow to stay under signature thresholds. By the time a signature exists, the attack has already succeeded somewhere else.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3310128" cy="1965960"/>
          </a:xfrm>
          <a:prstGeom prst="roundRect">
            <a:avLst>
              <a:gd name="adj" fmla="val 5581"/>
            </a:avLst>
          </a:prstGeom>
          <a:solidFill>
            <a:srgbClr val="F3F5F9"/>
          </a:solidFill>
          <a:ln/>
          <a:effectLst>
            <a:outerShdw blurRad="101600" dist="38100" dir="5400000" algn="bl" rotWithShape="0">
              <a:srgbClr val="1C2542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542032"/>
            <a:ext cx="28529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0A8F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1.59M+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3657600"/>
            <a:ext cx="2852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incidents handled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CERT-In in 2023 alone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78808" y="2377440"/>
            <a:ext cx="3310128" cy="1965960"/>
          </a:xfrm>
          <a:prstGeom prst="roundRect">
            <a:avLst>
              <a:gd name="adj" fmla="val 5581"/>
            </a:avLst>
          </a:prstGeom>
          <a:solidFill>
            <a:srgbClr val="F3F5F9"/>
          </a:solidFill>
          <a:ln/>
          <a:effectLst>
            <a:outerShdw blurRad="101600" dist="38100" dir="5400000" algn="bl" rotWithShape="0">
              <a:srgbClr val="1C2542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07408" y="2542032"/>
            <a:ext cx="28529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0A8F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407408" y="3657600"/>
            <a:ext cx="2852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government entities run on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end-of-life IT infrastructure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808976" y="2377440"/>
            <a:ext cx="3310128" cy="1965960"/>
          </a:xfrm>
          <a:prstGeom prst="roundRect">
            <a:avLst>
              <a:gd name="adj" fmla="val 5581"/>
            </a:avLst>
          </a:prstGeom>
          <a:solidFill>
            <a:srgbClr val="F3F5F9"/>
          </a:solidFill>
          <a:ln/>
          <a:effectLst>
            <a:outerShdw blurRad="101600" dist="38100" dir="5400000" algn="bl" rotWithShape="0">
              <a:srgbClr val="1C2542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037576" y="2542032"/>
            <a:ext cx="28529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0A8F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Weeks to</a:t>
            </a:r>
            <a:endParaRPr lang="en-US" sz="2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0A8F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Months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037576" y="3657600"/>
            <a:ext cx="2852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gap between initial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 and detection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617720"/>
            <a:ext cx="11091672" cy="1417320"/>
          </a:xfrm>
          <a:prstGeom prst="roundRect">
            <a:avLst>
              <a:gd name="adj" fmla="val 6452"/>
            </a:avLst>
          </a:prstGeom>
          <a:solidFill>
            <a:srgbClr val="141B33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800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that keeps repeating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513892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AIIMS Delhi (2022): ransomware, 2+ weeks offline. CBSE (2024 &amp; early 2026): exam records breached, emergency shutdowns across states. In every case: the data existed. The intelligence layer to act on it before damage — didn't.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0D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sub-agents, built and proven — not five, half-built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A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statement suggests five sub-agents. We scoped to two, deliberately: a smaller thing that's actually true beats a bigger thing that's vaporware.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394960" cy="3977640"/>
          </a:xfrm>
          <a:prstGeom prst="roundRect">
            <a:avLst>
              <a:gd name="adj" fmla="val 2759"/>
            </a:avLst>
          </a:prstGeom>
          <a:solidFill>
            <a:srgbClr val="141B33"/>
          </a:solidFill>
          <a:ln w="15875">
            <a:solidFill>
              <a:srgbClr val="00D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4231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00D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&amp; VALIDATED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8803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✓"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Anomaly Detection Engine — per-entity baseline + Isolation Forest + peer-novelty signal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36576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✓"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 Campaign Attribution Agent — retrieves matching MITRE ATT&amp;CK techniques, generates analyst narrative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44348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✓"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Benchmarked on synthetic data (7,200 windows) AND real UNSW-NB15 traffic (6,257 windows, 2.5M raw connections)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52120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✓"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Tactic-level attribution accuracy actually measured: 97.4%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45352" y="2240280"/>
            <a:ext cx="5394960" cy="3977640"/>
          </a:xfrm>
          <a:prstGeom prst="roundRect">
            <a:avLst>
              <a:gd name="adj" fmla="val 2759"/>
            </a:avLst>
          </a:prstGeom>
          <a:solidFill>
            <a:srgbClr val="1C2542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65392" y="24231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A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 ROADMAP, NOT BUILT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65392" y="28803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–"/>
            </a:pPr>
            <a:r>
              <a:rPr lang="en-US" sz="1300" dirty="0">
                <a:solidFill>
                  <a:srgbClr val="A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Incident Response Orchestrator (SOAR) — needs live security tooling to integrate against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65392" y="37947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–"/>
            </a:pPr>
            <a:r>
              <a:rPr lang="en-US" sz="1300" dirty="0">
                <a:solidFill>
                  <a:srgbClr val="A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Infrastructure Vulnerability Prioritisation — needs a real CVE/asset feed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65392" y="47091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–"/>
            </a:pPr>
            <a:r>
              <a:rPr lang="en-US" sz="1300" dirty="0">
                <a:solidFill>
                  <a:srgbClr val="A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Resilience Digital Twin — needs a real org's security architecture to model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65392" y="56235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A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because a solo hackathon build can't credibly fake live integrations — not because they don't matter.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A8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4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network signal to an actioned alert</a:t>
            </a:r>
            <a:endParaRPr lang="en-US" sz="2800" dirty="0"/>
          </a:p>
        </p:txBody>
      </p:sp>
      <p:pic>
        <p:nvPicPr>
          <p:cNvPr id="4" name="Image 0" descr="/sessions/serene-friendly-newton/mnt/outputs/cyber-resilience-ai/assets/architectur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37360"/>
            <a:ext cx="11274552" cy="243789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1264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= built and working in this prototype.   Dashed = roadmap, deliberately out of scope (see previous slide).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0D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Behavioral Anomaly Detection Engine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A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what's normal for THIS host, flags deviation from ITS OWN baseline — not a signature match.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66928" cy="566928"/>
          </a:xfrm>
          <a:prstGeom prst="ellipse">
            <a:avLst/>
          </a:prstGeom>
          <a:solidFill>
            <a:srgbClr val="1C2542"/>
          </a:solidFill>
          <a:ln w="12700">
            <a:solidFill>
              <a:srgbClr val="00D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40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221992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Per-entity baseline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892040" y="2221992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Mean/std of every feature, computed per host, unsupervised — no labels needed in production.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264408"/>
            <a:ext cx="566928" cy="566928"/>
          </a:xfrm>
          <a:prstGeom prst="ellipse">
            <a:avLst/>
          </a:prstGeom>
          <a:solidFill>
            <a:srgbClr val="1C2542"/>
          </a:solidFill>
          <a:ln w="12700">
            <a:solidFill>
              <a:srgbClr val="00D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644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24612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892040" y="324612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multi-feature COMBINATIONS that are jointly unusual, even if no single feature looks extreme alone.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288536"/>
            <a:ext cx="566928" cy="566928"/>
          </a:xfrm>
          <a:prstGeom prst="ellipse">
            <a:avLst/>
          </a:prstGeom>
          <a:solidFill>
            <a:srgbClr val="1C2542"/>
          </a:solidFill>
          <a:ln w="12700">
            <a:solidFill>
              <a:srgbClr val="00D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2885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27024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max-deviation scorer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892040" y="4270248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Fast-path catch for “loud” single-feature spikes — 100% recall on obvious attacks.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5312664"/>
            <a:ext cx="566928" cy="566928"/>
          </a:xfrm>
          <a:prstGeom prst="ellipse">
            <a:avLst/>
          </a:prstGeom>
          <a:solidFill>
            <a:srgbClr val="1C2542"/>
          </a:solidFill>
          <a:ln w="12700">
            <a:solidFill>
              <a:srgbClr val="00D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53126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5294376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Peer-novelty signal (added this build)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892040" y="5294376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whether a host reaches destinations it's NEVER contacted before — catches stealthy lateral movement volume alone misses.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A8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APT Campaign Attribution Agent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Retrieve-then-generate: turns a raw anomaly score into an analyst-readable explanation with a recommended action.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2514600" cy="2834640"/>
          </a:xfrm>
          <a:prstGeom prst="roundRect">
            <a:avLst>
              <a:gd name="adj" fmla="val 3636"/>
            </a:avLst>
          </a:prstGeom>
          <a:solidFill>
            <a:srgbClr val="F3F5F9"/>
          </a:solidFill>
          <a:ln/>
          <a:effectLst>
            <a:outerShdw blurRad="76200" dist="25400" dir="5400000" algn="bl" rotWithShape="0">
              <a:srgbClr val="1C2542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3081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D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49808" y="3657600"/>
            <a:ext cx="2112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flagged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" y="4114800"/>
            <a:ext cx="21122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+ score + top contributing features from the detection engine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044952" y="40690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83280" y="2880360"/>
            <a:ext cx="2514600" cy="2834640"/>
          </a:xfrm>
          <a:prstGeom prst="roundRect">
            <a:avLst>
              <a:gd name="adj" fmla="val 3636"/>
            </a:avLst>
          </a:prstGeom>
          <a:solidFill>
            <a:srgbClr val="F3F5F9"/>
          </a:solidFill>
          <a:ln/>
          <a:effectLst>
            <a:outerShdw blurRad="76200" dist="25400" dir="5400000" algn="bl" rotWithShape="0">
              <a:srgbClr val="1C2542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84448" y="3081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D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584448" y="3657600"/>
            <a:ext cx="2112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84448" y="4114800"/>
            <a:ext cx="21122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contributing features against 18 curated MITRE ATT&amp;CK techniques, weighted by deviation rank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879592" y="40690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17920" y="2880360"/>
            <a:ext cx="2514600" cy="2834640"/>
          </a:xfrm>
          <a:prstGeom prst="roundRect">
            <a:avLst>
              <a:gd name="adj" fmla="val 3636"/>
            </a:avLst>
          </a:prstGeom>
          <a:solidFill>
            <a:srgbClr val="F3F5F9"/>
          </a:solidFill>
          <a:ln/>
          <a:effectLst>
            <a:outerShdw blurRad="76200" dist="25400" dir="5400000" algn="bl" rotWithShape="0">
              <a:srgbClr val="1C2542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19088" y="3081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D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419088" y="3657600"/>
            <a:ext cx="2112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19088" y="4114800"/>
            <a:ext cx="21122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synthesizes a narrative + recommended action from top candidates (auto rule-based fallback if no API key)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714232" y="40690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052560" y="2880360"/>
            <a:ext cx="2514600" cy="2834640"/>
          </a:xfrm>
          <a:prstGeom prst="roundRect">
            <a:avLst>
              <a:gd name="adj" fmla="val 3636"/>
            </a:avLst>
          </a:prstGeom>
          <a:solidFill>
            <a:srgbClr val="F3F5F9"/>
          </a:solidFill>
          <a:ln/>
          <a:effectLst>
            <a:outerShdw blurRad="76200" dist="25400" dir="5400000" algn="bl" rotWithShape="0">
              <a:srgbClr val="1C2542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253728" y="3081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D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253728" y="3657600"/>
            <a:ext cx="2112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alert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253728" y="4114800"/>
            <a:ext cx="21122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JSON: entity, techniques, confidence, action, full audit trail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0D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SYNTHETIC BENCHMARK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7,200 windows, 5 attack families, honest metrics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141B33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8288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D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26974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10712" y="169164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141B33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47872" y="18288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D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82.9%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547872" y="26974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@ operating point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72784" y="169164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141B33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9944" y="18288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D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78.7%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409944" y="26974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@ operating point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34856" y="169164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141B33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72016" y="18288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D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1.35%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272016" y="26974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rate</a:t>
            </a:r>
            <a:endParaRPr lang="en-US" sz="1250" dirty="0"/>
          </a:p>
        </p:txBody>
      </p:sp>
      <p:pic>
        <p:nvPicPr>
          <p:cNvPr id="16" name="Image 0" descr="/sessions/serene-friendly-newton/mnt/outputs/cyber-resilience-ai/eval/roc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749040"/>
            <a:ext cx="2743200" cy="2743200"/>
          </a:xfrm>
          <a:prstGeom prst="rect">
            <a:avLst/>
          </a:prstGeom>
        </p:spPr>
      </p:pic>
      <p:pic>
        <p:nvPicPr>
          <p:cNvPr id="17" name="Image 1" descr="/sessions/serene-friendly-newton/mnt/outputs/cyber-resilience-ai/eval/pr_cur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760" y="3749040"/>
            <a:ext cx="2743200" cy="27432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903720" y="3749040"/>
            <a:ext cx="4754880" cy="2743200"/>
          </a:xfrm>
          <a:prstGeom prst="roundRect">
            <a:avLst>
              <a:gd name="adj" fmla="val 3333"/>
            </a:avLst>
          </a:prstGeom>
          <a:solidFill>
            <a:srgbClr val="1C2542"/>
          </a:solidFill>
          <a:ln/>
        </p:spPr>
      </p:sp>
      <p:sp>
        <p:nvSpPr>
          <p:cNvPr id="19" name="Text 15"/>
          <p:cNvSpPr/>
          <p:nvPr/>
        </p:nvSpPr>
        <p:spPr>
          <a:xfrm>
            <a:off x="7178040" y="39319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“operating point” means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7178040" y="434340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A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ROC-AUC/PR-AUC are threshold-independent. The precision/recall/FPR numbers are read at ONE chosen alert-volume threshold — tightening or loosening it trades these against each other. Full curves shown so nothing is cherry-picked to one convenient point.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A8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THAT ACTUALLY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4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Loud attacks: caught every time. Stealthy: the honest picture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00200"/>
          <a:ext cx="73152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092440" y="160020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141B33"/>
          </a:solidFill>
          <a:ln/>
        </p:spPr>
      </p:sp>
      <p:sp>
        <p:nvSpPr>
          <p:cNvPr id="6" name="Text 3"/>
          <p:cNvSpPr/>
          <p:nvPr/>
        </p:nvSpPr>
        <p:spPr>
          <a:xfrm>
            <a:off x="8366760" y="1783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trade-off we didn't hide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366760" y="2194560"/>
            <a:ext cx="30175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the peer-novelty feature raised stealthy lateral movement recall from 5.9% → 31% and stealthy port-scan to 97.6%.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stealthy brute-force recall FELL (67.6% → 37.8%): this engine flags a fixed alert budget per run, so improving one attack type's ranking can push another below the cutoff.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Documented, not smoothed over. Fix: per-attack-type thresholds (roadmap).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0D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Validated against real UNSW-NB15 traffic — not just our own synthetic data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2.54M real network connections, aggregated into 6,257 real behavioral windows, 43 real hosts. Same engine, unchanged.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2148840"/>
          <a:ext cx="630936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086600" y="2148840"/>
            <a:ext cx="4572000" cy="3977640"/>
          </a:xfrm>
          <a:prstGeom prst="roundRect">
            <a:avLst>
              <a:gd name="adj" fmla="val 2299"/>
            </a:avLst>
          </a:prstGeom>
          <a:solidFill>
            <a:srgbClr val="1C2542"/>
          </a:solidFill>
          <a:ln/>
        </p:spPr>
      </p:sp>
      <p:sp>
        <p:nvSpPr>
          <p:cNvPr id="7" name="Text 4"/>
          <p:cNvSpPr/>
          <p:nvPr/>
        </p:nvSpPr>
        <p:spPr>
          <a:xfrm>
            <a:off x="7360920" y="23317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gap — and why that's the point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60920" y="278892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UNSW-NB15's dominant attacks are Exploits and Fuzzers — single malicious packets/payloads, not sustained volume shifts.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engine is behavioral: it's built to catch sustained pattern change (scans, floods, brute force). A one-packet exploit doesn't necessarily move the aggregate stats.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clearly above random (0.81 ROC-AUC) — but this is a real method limitation, stated directly, not smoothed into a friendlier number.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A8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FOCUS: ATTRIBUTION ACCURACY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4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96.2% technique-level attribution accuracy — the exact ATT&amp;CK ID, not just the tactic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4023360"/>
          </a:xfrm>
          <a:prstGeom prst="roundRect">
            <a:avLst>
              <a:gd name="adj" fmla="val 3077"/>
            </a:avLst>
          </a:prstGeom>
          <a:solidFill>
            <a:srgbClr val="F3F5F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28600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A8F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96.2%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technique accuracy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98.8% top-3  •  n = 340 true-positive alerts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005840" y="4160520"/>
            <a:ext cx="2651760" cy="0"/>
          </a:xfrm>
          <a:prstGeom prst="line">
            <a:avLst/>
          </a:prstGeom>
          <a:noFill/>
          <a:ln w="12700">
            <a:solidFill>
              <a:srgbClr val="D8DD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976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attack type — technique top-1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4617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scan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0" y="46177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A8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4892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0" y="48920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A8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97.3%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5166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0" y="51663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A8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96.4%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5440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 movement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0" y="54406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A8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94.9%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5715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Exfiltration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0" y="57150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A8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91.4%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34840" y="1737360"/>
            <a:ext cx="7223760" cy="4023360"/>
          </a:xfrm>
          <a:prstGeom prst="roundRect">
            <a:avLst>
              <a:gd name="adj" fmla="val 2273"/>
            </a:avLst>
          </a:prstGeom>
          <a:solidFill>
            <a:srgbClr val="141B33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19659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metric IS and ISN'T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54880" y="2377440"/>
            <a:ext cx="65836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data (real UNSW-NB15) genuinely has no ATT&amp;CK technique-ID ground truth — that needs a red team tagging every packet, which doesn't exist here or anywhere for this dataset.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for the SYNTHETIC data, that excuse doesn't apply: we wrote the attack simulators ourselves to model specific named techniques (port scan→T1595, brute force→T1110, DoS→T1498, exfiltration→T1041, lateral movement→T1021). That design intent is legitimate ground truth for data we generated — so exact technique-ID accuracy is measured directly, not proxied.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secondary, looser check — top candidate's TACTIC matches expectation (e.g. Reconnaissance for a port scan) — still holds too: 97.4% top-1 / 99.4% top-3.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measured only on synthetic data: real UNSW-NB15's categories (Exploits, Fuzzers, Generic…) aren't ATT&amp;CK labels and don't map onto our KB cleanly enough to be meaningful there.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0D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closes the gaps we found — in priority order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C2542"/>
          </a:solidFill>
          <a:ln w="12700">
            <a:solidFill>
              <a:srgbClr val="00D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70992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Identity/credential-graph signals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617720" y="169164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the rest of the stealthy lateral-movement gap. Peer-novelty closed part of it using traffic alone; the honest ceiling for flow-only data is well below what real auth/identity data would achieve.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63347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C2542"/>
          </a:solidFill>
          <a:ln w="12700">
            <a:solidFill>
              <a:srgbClr val="00D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633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60604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Per-attack-type adaptive thresholds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17720" y="2587752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the brute-force-vs-lateral-movement trade-off from Slide 8 — one global alert budget is the root cause.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52958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C2542"/>
          </a:solidFill>
          <a:ln w="12700">
            <a:solidFill>
              <a:srgbClr val="00D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5295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3502152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Payload/signature-assisted layer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617720" y="3483864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the real-data gap from Slide 9. Exploits/fuzzing attacks need packet-content inspection alongside behavioral baselining.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42569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C2542"/>
          </a:solidFill>
          <a:ln w="12700">
            <a:solidFill>
              <a:srgbClr val="00D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4256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4398264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Next-stage move prediction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617720" y="4379976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agent currently explains what already happened; ranking likely NEXT ATT&amp;CK techniques was in-scope for this sub-agent originally.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32180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C2542"/>
          </a:solidFill>
          <a:ln w="12700">
            <a:solidFill>
              <a:srgbClr val="00D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321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34440" y="5294376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Incident Response (SOAR)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617720" y="5276088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Pre-approved containment playbooks, gated by confidence threshold, human escalation above a blast-radius limit.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5120640"/>
            <a:ext cx="41148" cy="41148"/>
          </a:xfrm>
          <a:prstGeom prst="ellipse">
            <a:avLst/>
          </a:prstGeom>
          <a:solidFill>
            <a:srgbClr val="00D1B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79408" y="5120640"/>
            <a:ext cx="41148" cy="41148"/>
          </a:xfrm>
          <a:prstGeom prst="ellipse">
            <a:avLst/>
          </a:prstGeom>
          <a:solidFill>
            <a:srgbClr val="00D1B2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363456" y="5120640"/>
            <a:ext cx="41148" cy="41148"/>
          </a:xfrm>
          <a:prstGeom prst="ellipse">
            <a:avLst/>
          </a:prstGeom>
          <a:solidFill>
            <a:srgbClr val="00D1B2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747504" y="5120640"/>
            <a:ext cx="41148" cy="41148"/>
          </a:xfrm>
          <a:prstGeom prst="ellipse">
            <a:avLst/>
          </a:prstGeom>
          <a:solidFill>
            <a:srgbClr val="00D1B2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131552" y="5120640"/>
            <a:ext cx="41148" cy="41148"/>
          </a:xfrm>
          <a:prstGeom prst="ellipse">
            <a:avLst/>
          </a:prstGeom>
          <a:solidFill>
            <a:srgbClr val="00D1B2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0" y="5120640"/>
            <a:ext cx="41148" cy="41148"/>
          </a:xfrm>
          <a:prstGeom prst="ellipse">
            <a:avLst/>
          </a:prstGeom>
          <a:solidFill>
            <a:srgbClr val="00D1B2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899648" y="5120640"/>
            <a:ext cx="41148" cy="41148"/>
          </a:xfrm>
          <a:prstGeom prst="ellipse">
            <a:avLst/>
          </a:prstGeom>
          <a:solidFill>
            <a:srgbClr val="00D1B2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283696" y="5120640"/>
            <a:ext cx="41148" cy="41148"/>
          </a:xfrm>
          <a:prstGeom prst="ellipse">
            <a:avLst/>
          </a:prstGeom>
          <a:solidFill>
            <a:srgbClr val="00D1B2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595360" y="5413248"/>
            <a:ext cx="41148" cy="41148"/>
          </a:xfrm>
          <a:prstGeom prst="ellipse">
            <a:avLst/>
          </a:prstGeom>
          <a:solidFill>
            <a:srgbClr val="00D1B2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979408" y="5413248"/>
            <a:ext cx="41148" cy="41148"/>
          </a:xfrm>
          <a:prstGeom prst="ellipse">
            <a:avLst/>
          </a:prstGeom>
          <a:solidFill>
            <a:srgbClr val="00D1B2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363456" y="5413248"/>
            <a:ext cx="41148" cy="41148"/>
          </a:xfrm>
          <a:prstGeom prst="ellipse">
            <a:avLst/>
          </a:prstGeom>
          <a:solidFill>
            <a:srgbClr val="00D1B2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747504" y="5413248"/>
            <a:ext cx="41148" cy="41148"/>
          </a:xfrm>
          <a:prstGeom prst="ellipse">
            <a:avLst/>
          </a:prstGeom>
          <a:solidFill>
            <a:srgbClr val="00D1B2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131552" y="5413248"/>
            <a:ext cx="41148" cy="41148"/>
          </a:xfrm>
          <a:prstGeom prst="ellipse">
            <a:avLst/>
          </a:prstGeom>
          <a:solidFill>
            <a:srgbClr val="00D1B2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515600" y="5413248"/>
            <a:ext cx="41148" cy="41148"/>
          </a:xfrm>
          <a:prstGeom prst="ellipse">
            <a:avLst/>
          </a:prstGeom>
          <a:solidFill>
            <a:srgbClr val="00D1B2">
              <a:alpha val="4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899648" y="5413248"/>
            <a:ext cx="41148" cy="41148"/>
          </a:xfrm>
          <a:prstGeom prst="ellipse">
            <a:avLst/>
          </a:prstGeom>
          <a:solidFill>
            <a:srgbClr val="00D1B2">
              <a:alpha val="4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283696" y="5413248"/>
            <a:ext cx="41148" cy="41148"/>
          </a:xfrm>
          <a:prstGeom prst="ellipse">
            <a:avLst/>
          </a:prstGeom>
          <a:solidFill>
            <a:srgbClr val="00D1B2">
              <a:alpha val="4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595360" y="5705856"/>
            <a:ext cx="41148" cy="41148"/>
          </a:xfrm>
          <a:prstGeom prst="ellipse">
            <a:avLst/>
          </a:prstGeom>
          <a:solidFill>
            <a:srgbClr val="00D1B2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979408" y="5705856"/>
            <a:ext cx="41148" cy="41148"/>
          </a:xfrm>
          <a:prstGeom prst="ellipse">
            <a:avLst/>
          </a:prstGeom>
          <a:solidFill>
            <a:srgbClr val="00D1B2">
              <a:alpha val="4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363456" y="5705856"/>
            <a:ext cx="41148" cy="41148"/>
          </a:xfrm>
          <a:prstGeom prst="ellipse">
            <a:avLst/>
          </a:prstGeom>
          <a:solidFill>
            <a:srgbClr val="00D1B2">
              <a:alpha val="4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747504" y="5705856"/>
            <a:ext cx="41148" cy="41148"/>
          </a:xfrm>
          <a:prstGeom prst="ellipse">
            <a:avLst/>
          </a:prstGeom>
          <a:solidFill>
            <a:srgbClr val="00D1B2">
              <a:alpha val="4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0131552" y="5705856"/>
            <a:ext cx="41148" cy="41148"/>
          </a:xfrm>
          <a:prstGeom prst="ellipse">
            <a:avLst/>
          </a:prstGeom>
          <a:solidFill>
            <a:srgbClr val="00D1B2">
              <a:alpha val="4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0515600" y="5705856"/>
            <a:ext cx="41148" cy="41148"/>
          </a:xfrm>
          <a:prstGeom prst="ellipse">
            <a:avLst/>
          </a:prstGeom>
          <a:solidFill>
            <a:srgbClr val="00D1B2">
              <a:alpha val="4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899648" y="5705856"/>
            <a:ext cx="41148" cy="41148"/>
          </a:xfrm>
          <a:prstGeom prst="ellipse">
            <a:avLst/>
          </a:prstGeom>
          <a:solidFill>
            <a:srgbClr val="00D1B2">
              <a:alpha val="4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283696" y="5705856"/>
            <a:ext cx="41148" cy="41148"/>
          </a:xfrm>
          <a:prstGeom prst="ellipse">
            <a:avLst/>
          </a:prstGeom>
          <a:solidFill>
            <a:srgbClr val="00D1B2">
              <a:alpha val="4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8595360" y="5998464"/>
            <a:ext cx="41148" cy="41148"/>
          </a:xfrm>
          <a:prstGeom prst="ellipse">
            <a:avLst/>
          </a:prstGeom>
          <a:solidFill>
            <a:srgbClr val="00D1B2">
              <a:alpha val="4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979408" y="5998464"/>
            <a:ext cx="41148" cy="41148"/>
          </a:xfrm>
          <a:prstGeom prst="ellipse">
            <a:avLst/>
          </a:prstGeom>
          <a:solidFill>
            <a:srgbClr val="00D1B2">
              <a:alpha val="4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9363456" y="5998464"/>
            <a:ext cx="41148" cy="41148"/>
          </a:xfrm>
          <a:prstGeom prst="ellipse">
            <a:avLst/>
          </a:prstGeom>
          <a:solidFill>
            <a:srgbClr val="00D1B2">
              <a:alpha val="4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9747504" y="5998464"/>
            <a:ext cx="41148" cy="41148"/>
          </a:xfrm>
          <a:prstGeom prst="ellipse">
            <a:avLst/>
          </a:prstGeom>
          <a:solidFill>
            <a:srgbClr val="00D1B2">
              <a:alpha val="4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0131552" y="5998464"/>
            <a:ext cx="41148" cy="41148"/>
          </a:xfrm>
          <a:prstGeom prst="ellipse">
            <a:avLst/>
          </a:prstGeom>
          <a:solidFill>
            <a:srgbClr val="00D1B2">
              <a:alpha val="4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515600" y="5998464"/>
            <a:ext cx="41148" cy="41148"/>
          </a:xfrm>
          <a:prstGeom prst="ellipse">
            <a:avLst/>
          </a:prstGeom>
          <a:solidFill>
            <a:srgbClr val="00D1B2">
              <a:alpha val="4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0899648" y="5998464"/>
            <a:ext cx="41148" cy="41148"/>
          </a:xfrm>
          <a:prstGeom prst="ellipse">
            <a:avLst/>
          </a:prstGeom>
          <a:solidFill>
            <a:srgbClr val="00D1B2">
              <a:alpha val="4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1283696" y="5998464"/>
            <a:ext cx="41148" cy="41148"/>
          </a:xfrm>
          <a:prstGeom prst="ellipse">
            <a:avLst/>
          </a:prstGeom>
          <a:solidFill>
            <a:srgbClr val="00D1B2">
              <a:alpha val="4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8595360" y="6291072"/>
            <a:ext cx="41148" cy="41148"/>
          </a:xfrm>
          <a:prstGeom prst="ellipse">
            <a:avLst/>
          </a:prstGeom>
          <a:solidFill>
            <a:srgbClr val="00D1B2">
              <a:alpha val="4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8979408" y="6291072"/>
            <a:ext cx="41148" cy="41148"/>
          </a:xfrm>
          <a:prstGeom prst="ellipse">
            <a:avLst/>
          </a:prstGeom>
          <a:solidFill>
            <a:srgbClr val="00D1B2">
              <a:alpha val="4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9363456" y="6291072"/>
            <a:ext cx="41148" cy="41148"/>
          </a:xfrm>
          <a:prstGeom prst="ellipse">
            <a:avLst/>
          </a:prstGeom>
          <a:solidFill>
            <a:srgbClr val="00D1B2">
              <a:alpha val="4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9747504" y="6291072"/>
            <a:ext cx="41148" cy="41148"/>
          </a:xfrm>
          <a:prstGeom prst="ellipse">
            <a:avLst/>
          </a:prstGeom>
          <a:solidFill>
            <a:srgbClr val="00D1B2">
              <a:alpha val="4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0131552" y="6291072"/>
            <a:ext cx="41148" cy="41148"/>
          </a:xfrm>
          <a:prstGeom prst="ellipse">
            <a:avLst/>
          </a:prstGeom>
          <a:solidFill>
            <a:srgbClr val="00D1B2">
              <a:alpha val="4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0515600" y="6291072"/>
            <a:ext cx="41148" cy="41148"/>
          </a:xfrm>
          <a:prstGeom prst="ellipse">
            <a:avLst/>
          </a:prstGeom>
          <a:solidFill>
            <a:srgbClr val="00D1B2">
              <a:alpha val="4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0899648" y="6291072"/>
            <a:ext cx="41148" cy="41148"/>
          </a:xfrm>
          <a:prstGeom prst="ellipse">
            <a:avLst/>
          </a:prstGeom>
          <a:solidFill>
            <a:srgbClr val="00D1B2">
              <a:alpha val="4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1283696" y="6291072"/>
            <a:ext cx="41148" cy="41148"/>
          </a:xfrm>
          <a:prstGeom prst="ellipse">
            <a:avLst/>
          </a:prstGeom>
          <a:solidFill>
            <a:srgbClr val="00D1B2">
              <a:alpha val="45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40080" y="196596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number in this deck is one we can defend.</a:t>
            </a:r>
            <a:endParaRPr lang="en-US" sz="3400" dirty="0"/>
          </a:p>
        </p:txBody>
      </p:sp>
      <p:sp>
        <p:nvSpPr>
          <p:cNvPr id="44" name="Text 42"/>
          <p:cNvSpPr/>
          <p:nvPr/>
        </p:nvSpPr>
        <p:spPr>
          <a:xfrm>
            <a:off x="640080" y="320040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benchmark AND real-world validation. A feature that measurably improved detection AND the trade-off it caused. An attribution accuracy number that didn't exist until we built the eval for it. That's the standard the rest of this build was held to.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658368" y="4434840"/>
            <a:ext cx="1097280" cy="0"/>
          </a:xfrm>
          <a:prstGeom prst="line">
            <a:avLst/>
          </a:prstGeom>
          <a:noFill/>
          <a:ln w="25400">
            <a:solidFill>
              <a:srgbClr val="00D1B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" y="46177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 •  Architecture diagram  •  Real + synthetic benchmarks  •  Full source on GitHub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40080" y="57607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1345</Words>
  <Application>Microsoft Macintosh PowerPoint</Application>
  <PresentationFormat>Widescreen</PresentationFormat>
  <Paragraphs>170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shameerfida@me.com</cp:lastModifiedBy>
  <cp:revision>2</cp:revision>
  <dcterms:created xsi:type="dcterms:W3CDTF">2026-07-22T15:25:11Z</dcterms:created>
  <dcterms:modified xsi:type="dcterms:W3CDTF">2026-07-22T17:00:17Z</dcterms:modified>
</cp:coreProperties>
</file>